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Playfair Display"/>
      <p:regular r:id="rId16"/>
      <p:bold r:id="rId17"/>
      <p:italic r:id="rId18"/>
      <p:boldItalic r:id="rId19"/>
    </p:embeddedFont>
    <p:embeddedFont>
      <p:font typeface="Lato"/>
      <p:regular r:id="rId20"/>
      <p:bold r:id="rId21"/>
      <p:italic r:id="rId22"/>
      <p:boldItalic r:id="rId23"/>
    </p:embeddedFont>
    <p:embeddedFont>
      <p:font typeface="Roboto Mono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regular.fntdata"/><Relationship Id="rId22" Type="http://schemas.openxmlformats.org/officeDocument/2006/relationships/font" Target="fonts/Lato-italic.fntdata"/><Relationship Id="rId21" Type="http://schemas.openxmlformats.org/officeDocument/2006/relationships/font" Target="fonts/Lato-bold.fntdata"/><Relationship Id="rId24" Type="http://schemas.openxmlformats.org/officeDocument/2006/relationships/font" Target="fonts/RobotoMono-regular.fntdata"/><Relationship Id="rId23" Type="http://schemas.openxmlformats.org/officeDocument/2006/relationships/font" Target="fonts/Lato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obotoMono-italic.fntdata"/><Relationship Id="rId25" Type="http://schemas.openxmlformats.org/officeDocument/2006/relationships/font" Target="fonts/RobotoMono-bold.fntdata"/><Relationship Id="rId27" Type="http://schemas.openxmlformats.org/officeDocument/2006/relationships/font" Target="fonts/RobotoMon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PlayfairDisplay-bold.fntdata"/><Relationship Id="rId16" Type="http://schemas.openxmlformats.org/officeDocument/2006/relationships/font" Target="fonts/PlayfairDisplay-regular.fntdata"/><Relationship Id="rId19" Type="http://schemas.openxmlformats.org/officeDocument/2006/relationships/font" Target="fonts/PlayfairDisplay-boldItalic.fntdata"/><Relationship Id="rId18" Type="http://schemas.openxmlformats.org/officeDocument/2006/relationships/font" Target="fonts/PlayfairDisplay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3c42f458c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3c42f458c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b362efecb0_0_3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b362efecb0_0_3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b362efecb0_0_3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b362efecb0_0_3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b362efecb0_0_3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b362efecb0_0_3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b362efecb0_0_3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b362efecb0_0_3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b362efecb0_0_3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b362efecb0_0_3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b362efecb0_0_3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b362efecb0_0_3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b362efecb0_0_3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b362efecb0_0_3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b3c42f458c_1_3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b3c42f458c_1_3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b3c42f458c_1_3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b3c42f458c_1_3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586721" y="0"/>
            <a:ext cx="7970700" cy="66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586721" y="5076900"/>
            <a:ext cx="79707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2" name="Google Shape;12;p2"/>
          <p:cNvCxnSpPr/>
          <p:nvPr/>
        </p:nvCxnSpPr>
        <p:spPr>
          <a:xfrm>
            <a:off x="733219" y="2235351"/>
            <a:ext cx="3852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" name="Google Shape;13;p2"/>
          <p:cNvSpPr txBox="1"/>
          <p:nvPr>
            <p:ph type="ctrTitle"/>
          </p:nvPr>
        </p:nvSpPr>
        <p:spPr>
          <a:xfrm>
            <a:off x="630600" y="136800"/>
            <a:ext cx="7893000" cy="185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100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630600" y="3228375"/>
            <a:ext cx="7893000" cy="127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/>
          <p:nvPr/>
        </p:nvSpPr>
        <p:spPr>
          <a:xfrm>
            <a:off x="586721" y="5076900"/>
            <a:ext cx="79707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586721" y="0"/>
            <a:ext cx="7970700" cy="66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3"/>
          <p:cNvSpPr txBox="1"/>
          <p:nvPr>
            <p:ph type="title"/>
          </p:nvPr>
        </p:nvSpPr>
        <p:spPr>
          <a:xfrm>
            <a:off x="509550" y="1921350"/>
            <a:ext cx="8124900" cy="130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/>
          <p:nvPr/>
        </p:nvSpPr>
        <p:spPr>
          <a:xfrm>
            <a:off x="-125" y="5045700"/>
            <a:ext cx="9144000" cy="978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3" name="Google Shape;23;p4"/>
          <p:cNvCxnSpPr/>
          <p:nvPr/>
        </p:nvCxnSpPr>
        <p:spPr>
          <a:xfrm>
            <a:off x="419425" y="1154195"/>
            <a:ext cx="3852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" name="Google Shape;24;p4"/>
          <p:cNvSpPr txBox="1"/>
          <p:nvPr>
            <p:ph type="title"/>
          </p:nvPr>
        </p:nvSpPr>
        <p:spPr>
          <a:xfrm>
            <a:off x="311700" y="372725"/>
            <a:ext cx="8520600" cy="6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311700" y="1417800"/>
            <a:ext cx="8520600" cy="31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" name="Google Shape;28;p5"/>
          <p:cNvCxnSpPr/>
          <p:nvPr/>
        </p:nvCxnSpPr>
        <p:spPr>
          <a:xfrm>
            <a:off x="419425" y="1154195"/>
            <a:ext cx="3852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" name="Google Shape;29;p5"/>
          <p:cNvSpPr txBox="1"/>
          <p:nvPr>
            <p:ph type="title"/>
          </p:nvPr>
        </p:nvSpPr>
        <p:spPr>
          <a:xfrm>
            <a:off x="311700" y="372725"/>
            <a:ext cx="8520600" cy="6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1" type="body"/>
          </p:nvPr>
        </p:nvSpPr>
        <p:spPr>
          <a:xfrm>
            <a:off x="311700" y="1417950"/>
            <a:ext cx="3999900" cy="31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5"/>
          <p:cNvSpPr txBox="1"/>
          <p:nvPr>
            <p:ph idx="2" type="body"/>
          </p:nvPr>
        </p:nvSpPr>
        <p:spPr>
          <a:xfrm>
            <a:off x="4832400" y="1417950"/>
            <a:ext cx="3999900" cy="31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311700" y="372725"/>
            <a:ext cx="8520600" cy="6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7" name="Google Shape;37;p7"/>
          <p:cNvCxnSpPr/>
          <p:nvPr/>
        </p:nvCxnSpPr>
        <p:spPr>
          <a:xfrm>
            <a:off x="411044" y="1417772"/>
            <a:ext cx="3852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8" name="Google Shape;38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9" name="Google Shape;39;p7"/>
          <p:cNvSpPr txBox="1"/>
          <p:nvPr>
            <p:ph idx="1" type="body"/>
          </p:nvPr>
        </p:nvSpPr>
        <p:spPr>
          <a:xfrm>
            <a:off x="311700" y="1640350"/>
            <a:ext cx="2808000" cy="292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0" name="Google Shape;40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/>
          <p:nvPr/>
        </p:nvSpPr>
        <p:spPr>
          <a:xfrm>
            <a:off x="586721" y="0"/>
            <a:ext cx="7970700" cy="66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8"/>
          <p:cNvSpPr/>
          <p:nvPr/>
        </p:nvSpPr>
        <p:spPr>
          <a:xfrm>
            <a:off x="586721" y="5076900"/>
            <a:ext cx="79707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5" name="Google Shape;45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9"/>
          <p:cNvSpPr/>
          <p:nvPr/>
        </p:nvSpPr>
        <p:spPr>
          <a:xfrm>
            <a:off x="4572000" y="-10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8" name="Google Shape;48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9" name="Google Shape;49;p9"/>
          <p:cNvSpPr txBox="1"/>
          <p:nvPr>
            <p:ph type="title"/>
          </p:nvPr>
        </p:nvSpPr>
        <p:spPr>
          <a:xfrm>
            <a:off x="265500" y="1084625"/>
            <a:ext cx="4045200" cy="1707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50" name="Google Shape;50;p9"/>
          <p:cNvSpPr txBox="1"/>
          <p:nvPr>
            <p:ph idx="1" type="subTitle"/>
          </p:nvPr>
        </p:nvSpPr>
        <p:spPr>
          <a:xfrm>
            <a:off x="265500" y="2845200"/>
            <a:ext cx="4045200" cy="142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None/>
              <a:defRPr sz="2100">
                <a:solidFill>
                  <a:schemeClr val="accent6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None/>
              <a:defRPr sz="2100">
                <a:solidFill>
                  <a:schemeClr val="accent6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None/>
              <a:defRPr sz="2100">
                <a:solidFill>
                  <a:schemeClr val="accent6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None/>
              <a:defRPr sz="2100">
                <a:solidFill>
                  <a:schemeClr val="accent6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None/>
              <a:defRPr sz="2100">
                <a:solidFill>
                  <a:schemeClr val="accent6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None/>
              <a:defRPr sz="2100">
                <a:solidFill>
                  <a:schemeClr val="accent6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None/>
              <a:defRPr sz="2100">
                <a:solidFill>
                  <a:schemeClr val="accent6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None/>
              <a:defRPr sz="2100">
                <a:solidFill>
                  <a:schemeClr val="accent6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None/>
              <a:defRPr sz="21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52" name="Google Shape;52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55" name="Google Shape;55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1"/>
          <p:cNvSpPr/>
          <p:nvPr/>
        </p:nvSpPr>
        <p:spPr>
          <a:xfrm>
            <a:off x="586721" y="0"/>
            <a:ext cx="7970700" cy="66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11"/>
          <p:cNvSpPr/>
          <p:nvPr/>
        </p:nvSpPr>
        <p:spPr>
          <a:xfrm>
            <a:off x="586721" y="5076900"/>
            <a:ext cx="79707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11"/>
          <p:cNvSpPr txBox="1"/>
          <p:nvPr>
            <p:ph hasCustomPrompt="1" type="title"/>
          </p:nvPr>
        </p:nvSpPr>
        <p:spPr>
          <a:xfrm>
            <a:off x="586725" y="1353788"/>
            <a:ext cx="79707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800"/>
              <a:buNone/>
              <a:defRPr sz="10800">
                <a:solidFill>
                  <a:schemeClr val="accent6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800"/>
              <a:buNone/>
              <a:defRPr sz="10800">
                <a:solidFill>
                  <a:schemeClr val="accent6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800"/>
              <a:buNone/>
              <a:defRPr sz="10800">
                <a:solidFill>
                  <a:schemeClr val="accent6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800"/>
              <a:buNone/>
              <a:defRPr sz="10800">
                <a:solidFill>
                  <a:schemeClr val="accent6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800"/>
              <a:buNone/>
              <a:defRPr sz="10800">
                <a:solidFill>
                  <a:schemeClr val="accent6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800"/>
              <a:buNone/>
              <a:defRPr sz="10800">
                <a:solidFill>
                  <a:schemeClr val="accent6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800"/>
              <a:buNone/>
              <a:defRPr sz="10800">
                <a:solidFill>
                  <a:schemeClr val="accent6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800"/>
              <a:buNone/>
              <a:defRPr sz="10800">
                <a:solidFill>
                  <a:schemeClr val="accent6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800"/>
              <a:buNone/>
              <a:defRPr sz="10800">
                <a:solidFill>
                  <a:schemeClr val="accent6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0" name="Google Shape;60;p11"/>
          <p:cNvSpPr txBox="1"/>
          <p:nvPr>
            <p:ph idx="1" type="body"/>
          </p:nvPr>
        </p:nvSpPr>
        <p:spPr>
          <a:xfrm>
            <a:off x="586725" y="2968388"/>
            <a:ext cx="79707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1" name="Google Shape;61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blue-gold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372725"/>
            <a:ext cx="8520600" cy="64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417800"/>
            <a:ext cx="8520600" cy="315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Char char="●"/>
              <a:defRPr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3"/>
          <p:cNvSpPr txBox="1"/>
          <p:nvPr>
            <p:ph type="ctrTitle"/>
          </p:nvPr>
        </p:nvSpPr>
        <p:spPr>
          <a:xfrm>
            <a:off x="463150" y="614800"/>
            <a:ext cx="7893000" cy="2105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tr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                    </a:t>
            </a:r>
            <a:r>
              <a:rPr lang="tr" sz="1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</a:t>
            </a:r>
            <a:r>
              <a:rPr lang="tr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tr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T.C. AFYON KOCATEPE ÜNİVERSİTESİ</a:t>
            </a:r>
            <a:endParaRPr sz="1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tr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Kurum: AKÜ Sinanpaşa MYO, İnternet  Programcılığı </a:t>
            </a:r>
            <a:endParaRPr sz="1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tr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		 Ders Adı: Araştırma Yöntemleri</a:t>
            </a:r>
            <a:endParaRPr sz="1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22860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tr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Konu: </a:t>
            </a:r>
            <a:r>
              <a:rPr lang="tr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PİNG</a:t>
            </a:r>
            <a:r>
              <a:rPr lang="tr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SİMÜLASYONU PROJESİ</a:t>
            </a:r>
            <a:endParaRPr sz="1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9" name="Google Shape;69;p13"/>
          <p:cNvSpPr txBox="1"/>
          <p:nvPr>
            <p:ph idx="1" type="subTitle"/>
          </p:nvPr>
        </p:nvSpPr>
        <p:spPr>
          <a:xfrm>
            <a:off x="953550" y="3402800"/>
            <a:ext cx="7893000" cy="142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85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tr" sz="126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                                                               </a:t>
            </a:r>
            <a:r>
              <a:rPr b="1" lang="tr" sz="157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</a:t>
            </a:r>
            <a:r>
              <a:rPr b="1" lang="tr" sz="157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(Grup1)</a:t>
            </a:r>
            <a:endParaRPr b="1" sz="1574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tr" sz="157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                                                            Hazırlayanlar:</a:t>
            </a:r>
            <a:endParaRPr b="1" sz="1574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tr" sz="157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                                                                                        Bedirhan Tanrıkulu-243779004</a:t>
            </a:r>
            <a:endParaRPr b="1" sz="1574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tr" sz="157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                                                                                 Onur Türkemiş-243779053</a:t>
            </a:r>
            <a:endParaRPr b="1" sz="1574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tr" sz="157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                                                                            Emre Arslan-243779041</a:t>
            </a:r>
            <a:endParaRPr b="1" sz="1574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tr" sz="157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                                                                          </a:t>
            </a:r>
            <a:r>
              <a:rPr b="1" lang="tr" sz="157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Görkem Ek</a:t>
            </a:r>
            <a:r>
              <a:rPr b="1" lang="tr" sz="1266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en-243</a:t>
            </a:r>
            <a:r>
              <a:rPr b="1" lang="tr" sz="126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77900</a:t>
            </a:r>
            <a:r>
              <a:rPr b="1" lang="tr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1"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4"/>
          <p:cNvSpPr txBox="1"/>
          <p:nvPr>
            <p:ph type="title"/>
          </p:nvPr>
        </p:nvSpPr>
        <p:spPr>
          <a:xfrm>
            <a:off x="311700" y="372725"/>
            <a:ext cx="8520600" cy="6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                      </a:t>
            </a:r>
            <a:r>
              <a:rPr lang="tr"/>
              <a:t> </a:t>
            </a:r>
            <a:r>
              <a:rPr lang="tr">
                <a:solidFill>
                  <a:schemeClr val="dk2"/>
                </a:solidFill>
                <a:highlight>
                  <a:schemeClr val="dk1"/>
                </a:highlight>
              </a:rPr>
              <a:t>TARİHÇE VE LİTERATÜR</a:t>
            </a:r>
            <a:endParaRPr>
              <a:solidFill>
                <a:schemeClr val="dk2"/>
              </a:solidFill>
              <a:highlight>
                <a:schemeClr val="dk1"/>
              </a:highlight>
            </a:endParaRPr>
          </a:p>
        </p:txBody>
      </p:sp>
      <p:sp>
        <p:nvSpPr>
          <p:cNvPr id="75" name="Google Shape;75;p14"/>
          <p:cNvSpPr txBox="1"/>
          <p:nvPr>
            <p:ph idx="1" type="body"/>
          </p:nvPr>
        </p:nvSpPr>
        <p:spPr>
          <a:xfrm>
            <a:off x="251900" y="1092000"/>
            <a:ext cx="8520600" cy="414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tr" sz="2000">
                <a:solidFill>
                  <a:schemeClr val="dk2"/>
                </a:solidFill>
              </a:rPr>
              <a:t> Ping Yazılımının Tarihçesi</a:t>
            </a:r>
            <a:endParaRPr b="1" sz="2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tr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Ping, ilk kez 1983 yılında Mike Muuss tarafından geliştirilmiştir (Muuss, 1983).</a:t>
            </a:r>
            <a:endParaRPr b="1"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tr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İsmi, denizaltı sonarlarının çıkardığı "ping" sesinden esinlenilmiştir.</a:t>
            </a:r>
            <a:endParaRPr b="1"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tr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Çalışma Prensibi: Sesin yankılanması gibi, veri paketinin karşıdan dönmesini bekler.</a:t>
            </a:r>
            <a:r>
              <a:rPr b="1" lang="tr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(Postel, 1981)</a:t>
            </a:r>
            <a:endParaRPr b="1"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tr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Günümüzde siber güvenlik ve ağ testlerinde standart bir araçtır.</a:t>
            </a:r>
            <a:endParaRPr b="1"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6" name="Google Shape;7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4050" y="3039550"/>
            <a:ext cx="2381250" cy="190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5"/>
          <p:cNvSpPr txBox="1"/>
          <p:nvPr>
            <p:ph type="title"/>
          </p:nvPr>
        </p:nvSpPr>
        <p:spPr>
          <a:xfrm>
            <a:off x="383475" y="0"/>
            <a:ext cx="8520600" cy="6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                 </a:t>
            </a:r>
            <a:r>
              <a:rPr lang="tr">
                <a:solidFill>
                  <a:schemeClr val="dk2"/>
                </a:solidFill>
                <a:highlight>
                  <a:schemeClr val="dk1"/>
                </a:highlight>
              </a:rPr>
              <a:t>YÖNTEM VE TEKNOLOJİLER</a:t>
            </a:r>
            <a:endParaRPr>
              <a:solidFill>
                <a:schemeClr val="dk2"/>
              </a:solidFill>
              <a:highlight>
                <a:schemeClr val="dk1"/>
              </a:highlight>
            </a:endParaRPr>
          </a:p>
        </p:txBody>
      </p:sp>
      <p:sp>
        <p:nvSpPr>
          <p:cNvPr id="82" name="Google Shape;82;p15"/>
          <p:cNvSpPr txBox="1"/>
          <p:nvPr>
            <p:ph idx="1" type="body"/>
          </p:nvPr>
        </p:nvSpPr>
        <p:spPr>
          <a:xfrm>
            <a:off x="0" y="501450"/>
            <a:ext cx="9144000" cy="439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tr" sz="2000">
                <a:solidFill>
                  <a:schemeClr val="dk2"/>
                </a:solidFill>
              </a:rPr>
              <a:t>Kullanılan Yöntem ve Teknolojiler</a:t>
            </a:r>
            <a:endParaRPr b="1" sz="2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tr" sz="13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Programlama Dili: C# (.NET) </a:t>
            </a:r>
            <a:r>
              <a:rPr b="1" lang="tr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(Microsoft, 2024)</a:t>
            </a:r>
            <a:endParaRPr b="1" sz="1300">
              <a:solidFill>
                <a:schemeClr val="dk2"/>
              </a:solidFill>
              <a:highlight>
                <a:schemeClr val="accent6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tr" sz="13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Geliştirme Ortamı: Visual Studio 2022</a:t>
            </a:r>
            <a:endParaRPr b="1" sz="13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tr" sz="13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Kütüphane:</a:t>
            </a:r>
            <a:r>
              <a:rPr b="1" lang="tr" sz="1300">
                <a:solidFill>
                  <a:schemeClr val="accent3"/>
                </a:solidFill>
                <a:highlight>
                  <a:schemeClr val="accent6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tr" sz="1300">
                <a:highlight>
                  <a:schemeClr val="accent6"/>
                </a:highlight>
                <a:latin typeface="Roboto Mono"/>
                <a:ea typeface="Roboto Mono"/>
                <a:cs typeface="Roboto Mono"/>
                <a:sym typeface="Roboto Mono"/>
              </a:rPr>
              <a:t>Syst</a:t>
            </a:r>
            <a:r>
              <a:rPr b="1" lang="tr" sz="1300">
                <a:highlight>
                  <a:schemeClr val="accent6"/>
                </a:highlight>
                <a:latin typeface="Roboto Mono"/>
                <a:ea typeface="Roboto Mono"/>
                <a:cs typeface="Roboto Mono"/>
                <a:sym typeface="Roboto Mono"/>
              </a:rPr>
              <a:t>em.Net.NetworkInformation</a:t>
            </a:r>
            <a:endParaRPr b="1" sz="1300">
              <a:highlight>
                <a:schemeClr val="accent6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tr" sz="13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Mimari: Konsol Uygulaması (Console App)</a:t>
            </a:r>
            <a:endParaRPr b="1" sz="13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tr" sz="13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Algoritma Yapısı: Sonsuz döngü (While) ve Hata Yakalama (Try-Catch).</a:t>
            </a:r>
            <a:endParaRPr b="1" sz="13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3" name="Google Shape;8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11725" y="645000"/>
            <a:ext cx="1366451" cy="1366451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87325" y="2571750"/>
            <a:ext cx="2058373" cy="2058373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438300" y="2978400"/>
            <a:ext cx="1918648" cy="19186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6"/>
          <p:cNvSpPr txBox="1"/>
          <p:nvPr>
            <p:ph type="title"/>
          </p:nvPr>
        </p:nvSpPr>
        <p:spPr>
          <a:xfrm>
            <a:off x="311700" y="372725"/>
            <a:ext cx="8520600" cy="6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 sz="1800"/>
              <a:t>                                                     </a:t>
            </a:r>
            <a:r>
              <a:rPr lang="tr" sz="2800"/>
              <a:t>   </a:t>
            </a:r>
            <a:r>
              <a:rPr lang="tr" sz="2800">
                <a:highlight>
                  <a:schemeClr val="dk1"/>
                </a:highlight>
              </a:rPr>
              <a:t> </a:t>
            </a:r>
            <a:r>
              <a:rPr lang="tr" sz="2800">
                <a:solidFill>
                  <a:schemeClr val="dk2"/>
                </a:solidFill>
                <a:highlight>
                  <a:schemeClr val="dk1"/>
                </a:highlight>
              </a:rPr>
              <a:t>Projenin Amacı</a:t>
            </a:r>
            <a:endParaRPr sz="2800">
              <a:solidFill>
                <a:schemeClr val="dk2"/>
              </a:solidFill>
              <a:highlight>
                <a:schemeClr val="dk1"/>
              </a:highlight>
            </a:endParaRPr>
          </a:p>
        </p:txBody>
      </p:sp>
      <p:sp>
        <p:nvSpPr>
          <p:cNvPr id="91" name="Google Shape;91;p16"/>
          <p:cNvSpPr txBox="1"/>
          <p:nvPr>
            <p:ph idx="1" type="body"/>
          </p:nvPr>
        </p:nvSpPr>
        <p:spPr>
          <a:xfrm>
            <a:off x="192100" y="855575"/>
            <a:ext cx="8520600" cy="423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tr">
                <a:solidFill>
                  <a:schemeClr val="dk2"/>
                </a:solidFill>
              </a:rPr>
              <a:t>Ağ üzerindeki cihazların erişilebilirliğini test etmek.</a:t>
            </a:r>
            <a:endParaRPr b="1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tr">
                <a:solidFill>
                  <a:schemeClr val="dk2"/>
                </a:solidFill>
              </a:rPr>
              <a:t>Hedef sunucuya veri paketi gönderip yanıt süresini ölçmek.</a:t>
            </a:r>
            <a:endParaRPr b="1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tr">
                <a:solidFill>
                  <a:schemeClr val="dk2"/>
                </a:solidFill>
              </a:rPr>
              <a:t>Ağ gecikmesini  milisaniye cinsinden hesaplamak.</a:t>
            </a:r>
            <a:endParaRPr b="1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tr">
                <a:solidFill>
                  <a:schemeClr val="dk2"/>
                </a:solidFill>
              </a:rPr>
              <a:t>Temel ağ protokollerinin  çalışma mantığını kavramak.</a:t>
            </a:r>
            <a:endParaRPr b="1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2" name="Google Shape;9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16700" y="2755975"/>
            <a:ext cx="3122000" cy="2149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7"/>
          <p:cNvSpPr txBox="1"/>
          <p:nvPr>
            <p:ph type="title"/>
          </p:nvPr>
        </p:nvSpPr>
        <p:spPr>
          <a:xfrm>
            <a:off x="395450" y="0"/>
            <a:ext cx="8520600" cy="6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                      </a:t>
            </a:r>
            <a:r>
              <a:rPr lang="tr">
                <a:solidFill>
                  <a:schemeClr val="dk2"/>
                </a:solidFill>
                <a:highlight>
                  <a:schemeClr val="dk1"/>
                </a:highlight>
              </a:rPr>
              <a:t>ÇALIŞMA ALGORİTMASI</a:t>
            </a:r>
            <a:endParaRPr>
              <a:solidFill>
                <a:schemeClr val="dk2"/>
              </a:solidFill>
              <a:highlight>
                <a:schemeClr val="dk1"/>
              </a:highlight>
            </a:endParaRPr>
          </a:p>
        </p:txBody>
      </p:sp>
      <p:sp>
        <p:nvSpPr>
          <p:cNvPr id="98" name="Google Shape;98;p17"/>
          <p:cNvSpPr txBox="1"/>
          <p:nvPr>
            <p:ph idx="1" type="body"/>
          </p:nvPr>
        </p:nvSpPr>
        <p:spPr>
          <a:xfrm>
            <a:off x="43350" y="645000"/>
            <a:ext cx="9057300" cy="449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tr" sz="2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Algoritma Akışı</a:t>
            </a:r>
            <a:endParaRPr b="1" sz="20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tr" sz="1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Kullanıcıdan web adresi veya IP istenir.</a:t>
            </a:r>
            <a:endParaRPr b="1" sz="13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tr" sz="1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Adres boşsa varsayılan değer atanır.</a:t>
            </a:r>
            <a:endParaRPr b="1" sz="13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tr" sz="1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Hedefe 4 adet ping paketi gönderilir.</a:t>
            </a:r>
            <a:endParaRPr b="1" sz="13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tr" sz="1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Gelen cevapların süresi (ms) ve yaşam süresi (TTL) yazdırılır.</a:t>
            </a:r>
            <a:endParaRPr b="1" sz="13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tr" sz="1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Program kapanmaz, kullanıcıdan yeni sorgu bekler (</a:t>
            </a:r>
            <a:r>
              <a:rPr b="1" lang="tr" sz="130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</a:t>
            </a:r>
            <a:r>
              <a:rPr b="1" lang="tr" sz="1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ile çıkılır).</a:t>
            </a:r>
            <a:endParaRPr b="1" sz="13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9" name="Google Shape;99;p17"/>
          <p:cNvPicPr preferRelativeResize="0"/>
          <p:nvPr/>
        </p:nvPicPr>
        <p:blipFill rotWithShape="1">
          <a:blip r:embed="rId3">
            <a:alphaModFix/>
          </a:blip>
          <a:srcRect b="4029" l="11196" r="13806" t="11318"/>
          <a:stretch/>
        </p:blipFill>
        <p:spPr>
          <a:xfrm>
            <a:off x="5248250" y="1356450"/>
            <a:ext cx="3852400" cy="3787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8"/>
          <p:cNvSpPr txBox="1"/>
          <p:nvPr>
            <p:ph type="title"/>
          </p:nvPr>
        </p:nvSpPr>
        <p:spPr>
          <a:xfrm>
            <a:off x="311700" y="0"/>
            <a:ext cx="8520600" cy="6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457200" lvl="0" marL="2743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>
                <a:solidFill>
                  <a:schemeClr val="dk2"/>
                </a:solidFill>
                <a:highlight>
                  <a:schemeClr val="dk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KOD YAPISI </a:t>
            </a:r>
            <a:endParaRPr>
              <a:solidFill>
                <a:schemeClr val="dk2"/>
              </a:solidFill>
              <a:highlight>
                <a:schemeClr val="dk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5" name="Google Shape;105;p18"/>
          <p:cNvSpPr txBox="1"/>
          <p:nvPr>
            <p:ph idx="1" type="body"/>
          </p:nvPr>
        </p:nvSpPr>
        <p:spPr>
          <a:xfrm>
            <a:off x="311625" y="435400"/>
            <a:ext cx="8520600" cy="461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6" name="Google Shape;106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3850" y="556050"/>
            <a:ext cx="7915351" cy="433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9"/>
          <p:cNvSpPr txBox="1"/>
          <p:nvPr>
            <p:ph type="title"/>
          </p:nvPr>
        </p:nvSpPr>
        <p:spPr>
          <a:xfrm>
            <a:off x="389825" y="275475"/>
            <a:ext cx="8520600" cy="56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3200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>
                <a:solidFill>
                  <a:schemeClr val="dk2"/>
                </a:solidFill>
                <a:highlight>
                  <a:schemeClr val="dk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BULGULAR</a:t>
            </a:r>
            <a:endParaRPr>
              <a:solidFill>
                <a:schemeClr val="dk2"/>
              </a:solidFill>
              <a:highlight>
                <a:schemeClr val="dk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2" name="Google Shape;112;p19"/>
          <p:cNvSpPr txBox="1"/>
          <p:nvPr>
            <p:ph idx="1" type="body"/>
          </p:nvPr>
        </p:nvSpPr>
        <p:spPr>
          <a:xfrm>
            <a:off x="161850" y="1069725"/>
            <a:ext cx="8832300" cy="379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tr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tr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Uygulama Test Ekr</a:t>
            </a:r>
            <a:r>
              <a:rPr b="1" lang="tr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anı</a:t>
            </a:r>
            <a:endParaRPr b="1"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640080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tr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                                                                                                                                                                                                                      Şekil 1: Programın Çalışma Anı</a:t>
            </a:r>
            <a:endParaRPr b="1"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13" name="Google Shape;113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09950" y="2150300"/>
            <a:ext cx="5734050" cy="2447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0"/>
          <p:cNvSpPr txBox="1"/>
          <p:nvPr>
            <p:ph type="title"/>
          </p:nvPr>
        </p:nvSpPr>
        <p:spPr>
          <a:xfrm>
            <a:off x="311700" y="0"/>
            <a:ext cx="8520600" cy="6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457200" lvl="0" marL="22860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>
                <a:solidFill>
                  <a:schemeClr val="dk2"/>
                </a:solidFill>
                <a:highlight>
                  <a:schemeClr val="dk1"/>
                </a:highlight>
              </a:rPr>
              <a:t>TEST SONUÇLARI</a:t>
            </a:r>
            <a:endParaRPr>
              <a:solidFill>
                <a:schemeClr val="dk2"/>
              </a:solidFill>
              <a:highlight>
                <a:schemeClr val="dk1"/>
              </a:highlight>
            </a:endParaRPr>
          </a:p>
        </p:txBody>
      </p:sp>
      <p:sp>
        <p:nvSpPr>
          <p:cNvPr id="119" name="Google Shape;119;p20"/>
          <p:cNvSpPr txBox="1"/>
          <p:nvPr>
            <p:ph idx="1" type="body"/>
          </p:nvPr>
        </p:nvSpPr>
        <p:spPr>
          <a:xfrm>
            <a:off x="86125" y="866025"/>
            <a:ext cx="8746200" cy="414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tr"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Ortalama Gecikme:</a:t>
            </a:r>
            <a:r>
              <a:rPr lang="tr"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53ms</a:t>
            </a:r>
            <a:endParaRPr sz="11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2400"/>
              </a:spcBef>
              <a:spcAft>
                <a:spcPts val="0"/>
              </a:spcAft>
              <a:buNone/>
            </a:pPr>
            <a:r>
              <a:rPr b="1" lang="tr"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Paket Kaybı:</a:t>
            </a:r>
            <a:r>
              <a:rPr lang="tr"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%0 (Kayıpsız)</a:t>
            </a:r>
            <a:endParaRPr sz="11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2400"/>
              </a:spcBef>
              <a:spcAft>
                <a:spcPts val="0"/>
              </a:spcAft>
              <a:buNone/>
            </a:pPr>
            <a:r>
              <a:rPr b="1" lang="tr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Bağlantı Durumu:</a:t>
            </a:r>
            <a:r>
              <a:rPr lang="tr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Kararlı ve Hızlı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2400"/>
              </a:spcBef>
              <a:spcAft>
                <a:spcPts val="0"/>
              </a:spcAft>
              <a:buNone/>
            </a:pPr>
            <a:r>
              <a:rPr lang="tr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Rapordaki tabloda </a:t>
            </a:r>
            <a:r>
              <a:rPr b="1" lang="tr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TTL</a:t>
            </a:r>
            <a:r>
              <a:rPr lang="tr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değeri vardı (53 olarak), ama buradaki taslağında unutmuşsun. Tabloya bir sütun daha ekleyip </a:t>
            </a:r>
            <a:r>
              <a:rPr b="1" lang="tr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"TTL: 53"</a:t>
            </a:r>
            <a:r>
              <a:rPr lang="tr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yazarsan raporla birebir uyumlu olur.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2400"/>
              </a:spcBef>
              <a:spcAft>
                <a:spcPts val="2400"/>
              </a:spcAft>
              <a:buNone/>
            </a:pPr>
            <a:r>
              <a:t/>
            </a:r>
            <a:endParaRPr/>
          </a:p>
        </p:txBody>
      </p:sp>
      <p:pic>
        <p:nvPicPr>
          <p:cNvPr id="120" name="Google Shape;120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55150" y="2732050"/>
            <a:ext cx="3683226" cy="2523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1"/>
          <p:cNvSpPr txBox="1"/>
          <p:nvPr>
            <p:ph type="title"/>
          </p:nvPr>
        </p:nvSpPr>
        <p:spPr>
          <a:xfrm>
            <a:off x="311700" y="0"/>
            <a:ext cx="8520600" cy="6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45720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>
                <a:solidFill>
                  <a:schemeClr val="dk2"/>
                </a:solidFill>
                <a:highlight>
                  <a:schemeClr val="dk1"/>
                </a:highlight>
              </a:rPr>
              <a:t>SONUÇ VE KAZANIMLAR</a:t>
            </a:r>
            <a:endParaRPr>
              <a:solidFill>
                <a:schemeClr val="dk2"/>
              </a:solidFill>
              <a:highlight>
                <a:schemeClr val="dk1"/>
              </a:highlight>
            </a:endParaRPr>
          </a:p>
        </p:txBody>
      </p:sp>
      <p:sp>
        <p:nvSpPr>
          <p:cNvPr id="126" name="Google Shape;126;p21"/>
          <p:cNvSpPr txBox="1"/>
          <p:nvPr>
            <p:ph idx="1" type="body"/>
          </p:nvPr>
        </p:nvSpPr>
        <p:spPr>
          <a:xfrm>
            <a:off x="50550" y="453650"/>
            <a:ext cx="9042900" cy="449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tr" sz="2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</a:t>
            </a:r>
            <a:endParaRPr b="1" sz="2000">
              <a:solidFill>
                <a:schemeClr val="dk2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tr" sz="2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Sonuç ve Değerlendirme</a:t>
            </a:r>
            <a:endParaRPr b="1" sz="20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tr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Ağ protokollerinin (ICMP) çalışma mantığı kavranmıştır.</a:t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tr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C# dilinde </a:t>
            </a:r>
            <a:r>
              <a:rPr lang="tr" sz="1400">
                <a:solidFill>
                  <a:srgbClr val="1880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System.Net</a:t>
            </a:r>
            <a:r>
              <a:rPr lang="tr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kütüphanesi ve hata yönetimi öğrenilmiştir.</a:t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tr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Kullanıcı dostu, sürekli çalışan bir araç geliştirilmiştir.</a:t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tr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Gelecek Hedefi:</a:t>
            </a:r>
            <a:r>
              <a:rPr lang="tr" sz="1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Projeye grafik arayüz (Windows Form) eklenebilir.</a:t>
            </a:r>
            <a:endParaRPr b="1" sz="20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2"/>
          <p:cNvSpPr txBox="1"/>
          <p:nvPr>
            <p:ph type="title"/>
          </p:nvPr>
        </p:nvSpPr>
        <p:spPr>
          <a:xfrm>
            <a:off x="311700" y="372725"/>
            <a:ext cx="8520600" cy="6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457200" lvl="0" marL="2743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>
                <a:solidFill>
                  <a:schemeClr val="dk2"/>
                </a:solidFill>
                <a:highlight>
                  <a:schemeClr val="dk1"/>
                </a:highlight>
              </a:rPr>
              <a:t>KAYNAKÇA	</a:t>
            </a:r>
            <a:endParaRPr>
              <a:solidFill>
                <a:schemeClr val="dk2"/>
              </a:solidFill>
              <a:highlight>
                <a:schemeClr val="dk1"/>
              </a:highlight>
            </a:endParaRPr>
          </a:p>
        </p:txBody>
      </p:sp>
      <p:sp>
        <p:nvSpPr>
          <p:cNvPr id="132" name="Google Shape;132;p22"/>
          <p:cNvSpPr txBox="1"/>
          <p:nvPr>
            <p:ph idx="1" type="body"/>
          </p:nvPr>
        </p:nvSpPr>
        <p:spPr>
          <a:xfrm>
            <a:off x="133975" y="1017725"/>
            <a:ext cx="8698200" cy="355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30200" lvl="0" marL="457200" rtl="0" algn="just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AutoNum type="arabicPeriod"/>
            </a:pPr>
            <a:r>
              <a:rPr lang="tr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Muuss, M. (1983). </a:t>
            </a:r>
            <a:r>
              <a:rPr i="1" lang="tr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Story of the PING Program</a:t>
            </a:r>
            <a:r>
              <a:rPr lang="tr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U.S. Army Ballistic Research Laboratory.</a:t>
            </a:r>
            <a:endParaRPr sz="1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just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AutoNum type="arabicPeriod"/>
            </a:pPr>
            <a:r>
              <a:rPr lang="tr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Postel, J. (1981). </a:t>
            </a:r>
            <a:r>
              <a:rPr i="1" lang="tr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RFC 792: Internet Control Message Protocol</a:t>
            </a:r>
            <a:r>
              <a:rPr lang="tr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Internet Engineering Task Force (IETF).</a:t>
            </a:r>
            <a:endParaRPr sz="1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just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AutoNum type="arabicPeriod"/>
            </a:pPr>
            <a:r>
              <a:rPr lang="tr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Microsoft Docs. (2024). </a:t>
            </a:r>
            <a:r>
              <a:rPr i="1" lang="tr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Ping Class (System.Net.NetworkInformation)</a:t>
            </a:r>
            <a:r>
              <a:rPr lang="tr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Microsoft Developer Network.</a:t>
            </a:r>
            <a:endParaRPr sz="1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lang="tr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Dinlediğiniz için Teşekkürler</a:t>
            </a:r>
            <a:br>
              <a:rPr lang="tr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tr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                           sormak istediğiniz soru var mı?</a:t>
            </a:r>
            <a:endParaRPr sz="1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Blue &amp; Gold">
  <a:themeElements>
    <a:clrScheme name="Blue &amp; Gold">
      <a:dk1>
        <a:srgbClr val="FFFFFF"/>
      </a:dk1>
      <a:lt1>
        <a:srgbClr val="01AFD1"/>
      </a:lt1>
      <a:dk2>
        <a:srgbClr val="1E2D31"/>
      </a:dk2>
      <a:lt2>
        <a:srgbClr val="BFC7CA"/>
      </a:lt2>
      <a:accent1>
        <a:srgbClr val="006F85"/>
      </a:accent1>
      <a:accent2>
        <a:srgbClr val="AF4345"/>
      </a:accent2>
      <a:accent3>
        <a:srgbClr val="47D06A"/>
      </a:accent3>
      <a:accent4>
        <a:srgbClr val="F58F8F"/>
      </a:accent4>
      <a:accent5>
        <a:srgbClr val="F6CD4C"/>
      </a:accent5>
      <a:accent6>
        <a:srgbClr val="F8E71C"/>
      </a:accent6>
      <a:hlink>
        <a:srgbClr val="F6CD4C"/>
      </a:hlink>
      <a:folHlink>
        <a:srgbClr val="F6CD4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